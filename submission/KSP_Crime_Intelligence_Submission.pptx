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Fill in team name, leader and size. Problem Statement 1: a conversational AI plus a crime-analytics engine over the Karnataka State Police FIR database.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one-line pitch: grounded conversational intelligence over FIRs, with entity resolution as the differentiator and provenance on every answer.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differentiator is entity resolution; the moat is that everything is grounded, explainable, governed and measured.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feature is a typed tool the LLM can call; adding a tool auto-registers it into the chat.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loop: question -&gt; tool selection -&gt; RBAC-checked parameterized execution -&gt; grounded answer with provenance.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Left: streaming chat with tool chips. Right: Evidence / Network / Map panes that repaint from each answer. Role switcher drives RBAC live.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Layered: Slate frontend -&gt; AppSail FastAPI orchestration -&gt; tool layer -&gt; intelligence (sklearn/networkx) -&gt; external Postgres+PostGIS+pgvector. Catalyst services wrap it; Postgres stays external because ZCQL lacks CTEs/PostGIS/pgvector.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Standard, defensible stack; the only Catalyst-specific piece is the LLM via QuickML serving.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AppSail, Slate, QuickML, Job Scheduling, SmartBrowz, Stratus, Cache, Auth. Postgres stays external because ZCQL has no recursive CTEs, PostGIS or pgvector.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Cost is dominated by the always-on backend instance and the managed Postgres; LLM and storage are usage-based and scale with query volume.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Left: a grounded person profile with a clickable provenance trail and RBAC hiding out-of-scope FIRs. Right: MO/trend stats and an honest hotspot map. Live screenshots can replace these once the Catalyst LLM key is wired.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Headline: ER B-cubed F1 0.687 vs hidden ground truth (the hard, measurable ML result); MO homogeneity 1.000; 40/40 grounding eval including questions that must be refused; 158 tests green.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Add the 3-minute demo video and the deployed Catalyst URL before submitting.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Roadmap plus the ethical lines: no person-level prediction, no fabricated financial data, no LLM-authored facts.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502920" y="3127248"/>
            <a:ext cx="82296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600" b="1" i="0">
                <a:solidFill>
                  <a:srgbClr val="14274E"/>
                </a:solidFill>
                <a:latin typeface="Calibri"/>
              </a:rPr>
              <a:t>KSP Crime Intelligence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639312"/>
            <a:ext cx="82296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1">
                <a:solidFill>
                  <a:srgbClr val="0E6E6B"/>
                </a:solidFill>
                <a:latin typeface="Calibri"/>
              </a:rPr>
              <a:t>Conversational AI + crime analytics over the Karnataka State Police FIR database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069080"/>
            <a:ext cx="78638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5B6577"/>
                </a:solidFill>
                <a:latin typeface="Calibri"/>
              </a:rPr>
              <a:t>Team name:  </a:t>
            </a:r>
            <a:r>
              <a:rPr sz="1250" b="1" i="0">
                <a:solidFill>
                  <a:srgbClr val="111827"/>
                </a:solidFill>
                <a:latin typeface="Calibri"/>
              </a:rPr>
              <a:t>________________________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370832"/>
            <a:ext cx="78638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5B6577"/>
                </a:solidFill>
                <a:latin typeface="Calibri"/>
              </a:rPr>
              <a:t>Team leader name:  </a:t>
            </a:r>
            <a:r>
              <a:rPr sz="1250" b="1" i="0">
                <a:solidFill>
                  <a:srgbClr val="111827"/>
                </a:solidFill>
                <a:latin typeface="Calibri"/>
              </a:rPr>
              <a:t>________________________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672584"/>
            <a:ext cx="78638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5B6577"/>
                </a:solidFill>
                <a:latin typeface="Calibri"/>
              </a:rPr>
              <a:t>Team size:  </a:t>
            </a:r>
            <a:r>
              <a:rPr sz="1250" b="1" i="0">
                <a:solidFill>
                  <a:srgbClr val="111827"/>
                </a:solidFill>
                <a:latin typeface="Calibri"/>
              </a:rPr>
              <a:t>______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4069080"/>
            <a:ext cx="443484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5B6577"/>
                </a:solidFill>
                <a:latin typeface="Calibri"/>
              </a:rPr>
              <a:t>Problem Statement:  </a:t>
            </a:r>
            <a:r>
              <a:rPr sz="1250" b="1" i="0">
                <a:solidFill>
                  <a:srgbClr val="B56C08"/>
                </a:solidFill>
                <a:latin typeface="Calibri"/>
              </a:rPr>
              <a:t>PS-1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11827"/>
                </a:solidFill>
                <a:latin typeface="Calibri"/>
              </a:rPr>
              <a:t>Conversational AI &amp; Crime Analytics over the KSP FIR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Ask in plain language. Get only tool-verified facts, with the evidence attached.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1600200"/>
            <a:ext cx="525780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1783080"/>
            <a:ext cx="4892040" cy="2743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11827"/>
                </a:solidFill>
                <a:latin typeface="Calibri"/>
              </a:rPr>
              <a:t>Any officer — from a station SHO to an SCRB analyst — asks a question in plain language and gets an answer assembled </a:t>
            </a:r>
            <a:r>
              <a:rPr sz="1250" b="1" i="1">
                <a:solidFill>
                  <a:srgbClr val="14274E"/>
                </a:solidFill>
                <a:latin typeface="Calibri"/>
              </a:rPr>
              <a:t>only</a:t>
            </a:r>
            <a:r>
              <a:rPr sz="1250" b="0" i="0">
                <a:solidFill>
                  <a:srgbClr val="111827"/>
                </a:solidFill>
                <a:latin typeface="Calibri"/>
              </a:rPr>
              <a:t> from typed tool results. The assistant never writes SQL and never authors a fact; when no tool can answer, it says so instead of guessing.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11827"/>
                </a:solidFill>
                <a:latin typeface="Calibri"/>
              </a:rPr>
              <a:t>Its core is an </a:t>
            </a:r>
            <a:r>
              <a:rPr sz="1250" b="1" i="0">
                <a:solidFill>
                  <a:srgbClr val="14274E"/>
                </a:solidFill>
                <a:latin typeface="Calibri"/>
              </a:rPr>
              <a:t>entity-resolution engine</a:t>
            </a:r>
            <a:r>
              <a:rPr sz="1250" b="0" i="0">
                <a:solidFill>
                  <a:srgbClr val="111827"/>
                </a:solidFill>
                <a:latin typeface="Calibri"/>
              </a:rPr>
              <a:t> that reconstructs the real person behind dozens of misspelt, transliterated and aliased FIR name variants — the person entity the source schema never stored.</a:t>
            </a:r>
          </a:p>
          <a:p>
            <a:pPr algn="l"/>
            <a:r>
              <a:rPr sz="1250" b="0" i="0">
                <a:solidFill>
                  <a:srgbClr val="111827"/>
                </a:solidFill>
                <a:latin typeface="Calibri"/>
              </a:rPr>
              <a:t>On that spine sit </a:t>
            </a:r>
            <a:r>
              <a:rPr sz="1250" b="1" i="0">
                <a:solidFill>
                  <a:srgbClr val="0E6E6B"/>
                </a:solidFill>
                <a:latin typeface="Calibri"/>
              </a:rPr>
              <a:t>21 tools</a:t>
            </a:r>
            <a:r>
              <a:rPr sz="1250" b="0" i="0">
                <a:solidFill>
                  <a:srgbClr val="111827"/>
                </a:solidFill>
                <a:latin typeface="Calibri"/>
              </a:rPr>
              <a:t> for case retrieval, co-offender networks, hotspots &amp; trends, MO fingerprinting and compliance — each answer carrying a clickable evidence trail and enforced by role-based access control.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89320" y="1600200"/>
            <a:ext cx="2743200" cy="10515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89320" y="1709928"/>
            <a:ext cx="274320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3000" b="1" i="0">
                <a:solidFill>
                  <a:srgbClr val="14274E"/>
                </a:solidFill>
                <a:latin typeface="Calibri"/>
              </a:rPr>
              <a:t>21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11827"/>
                </a:solidFill>
                <a:latin typeface="Calibri"/>
              </a:rPr>
              <a:t>typed tools in one chat loop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89320" y="2788920"/>
            <a:ext cx="2743200" cy="10515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89320" y="2898648"/>
            <a:ext cx="274320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3000" b="1" i="0">
                <a:solidFill>
                  <a:srgbClr val="0E6E6B"/>
                </a:solidFill>
                <a:latin typeface="Calibri"/>
              </a:rPr>
              <a:t>50,000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11827"/>
                </a:solidFill>
                <a:latin typeface="Calibri"/>
              </a:rPr>
              <a:t>synthetic FIRs, seed-reproducible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89320" y="3977639"/>
            <a:ext cx="2743200" cy="10515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89320" y="4087368"/>
            <a:ext cx="274320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3000" b="1" i="0">
                <a:solidFill>
                  <a:srgbClr val="B56C08"/>
                </a:solidFill>
                <a:latin typeface="Calibri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11827"/>
                </a:solidFill>
                <a:latin typeface="Calibri"/>
              </a:rPr>
              <a:t>facts authored by the LLM</a:t>
            </a:r>
          </a:p>
          <a:p>
            <a:pPr algn="ctr"/>
            <a:r>
              <a:rPr sz="850" b="0" i="0">
                <a:solidFill>
                  <a:srgbClr val="5B6577"/>
                </a:solidFill>
                <a:latin typeface="Calibri"/>
              </a:rPr>
              <a:t>everything is tool-sourced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Why this is different, how it solves the problem, and what only we do.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1600200"/>
            <a:ext cx="2697480" cy="306324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13232" y="1828800"/>
            <a:ext cx="310896" cy="310896"/>
          </a:xfrm>
          <a:prstGeom prst="ellipse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" y="1828800"/>
            <a:ext cx="310896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" y="1847088"/>
            <a:ext cx="18745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14274E"/>
                </a:solidFill>
                <a:latin typeface="Calibri"/>
              </a:rPr>
              <a:t>HOW IT'S DIFFERENT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" y="2331720"/>
            <a:ext cx="2276856" cy="21945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111827"/>
                </a:solidFill>
                <a:latin typeface="Calibri"/>
              </a:rPr>
              <a:t>AccusedMasterID in the KSP schema is a per-FIR row id, not a person. Every naive approach treats it as identity and silently mis-counts. We resolve the real person across FIRs — the schema's missing entity — and only then analyse.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29000" y="1600200"/>
            <a:ext cx="2697480" cy="306324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85032" y="1828800"/>
            <a:ext cx="310896" cy="310896"/>
          </a:xfrm>
          <a:prstGeom prst="ellipse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85032" y="1828800"/>
            <a:ext cx="310896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87368" y="1847088"/>
            <a:ext cx="18745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0E6E6B"/>
                </a:solidFill>
                <a:latin typeface="Calibri"/>
              </a:rPr>
              <a:t>HOW IT SOLVES 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2331720"/>
            <a:ext cx="2276856" cy="21945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111827"/>
                </a:solidFill>
                <a:latin typeface="Calibri"/>
              </a:rPr>
              <a:t>Officers get instant, jurisdiction-scoped answers. Repeat offenders and cross-station gangs invisible to any single station surface automatically. Chargesheet deadlines and registration delays are watched continuously.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0" y="1600200"/>
            <a:ext cx="2697480" cy="306324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56832" y="1828800"/>
            <a:ext cx="310896" cy="310896"/>
          </a:xfrm>
          <a:prstGeom prst="ellipse">
            <a:avLst/>
          </a:prstGeom>
          <a:solidFill>
            <a:srgbClr val="B56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56832" y="1828800"/>
            <a:ext cx="310896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59168" y="1847088"/>
            <a:ext cx="18745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B56C08"/>
                </a:solidFill>
                <a:latin typeface="Calibri"/>
              </a:rPr>
              <a:t>USP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0256" y="2331720"/>
            <a:ext cx="2276856" cy="21945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111827"/>
                </a:solidFill>
                <a:latin typeface="Calibri"/>
              </a:rPr>
              <a:t>Grounded (never fabricates), Explainable (clickable provenance to the source FIR), Governed (RBAC + audit at the tool boundary, not the prompt), and Measured (entity-resolution B³ F1 = 0.687 against hidden ground truth).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21 typed tools, grouped into eight capability areas.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1572768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0080" y="1755648"/>
            <a:ext cx="201168" cy="201168"/>
          </a:xfrm>
          <a:prstGeom prst="ellipse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3504" y="2029967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14274E"/>
                </a:solidFill>
                <a:latin typeface="Calibri"/>
              </a:rPr>
              <a:t>Conversational Q&amp;A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" y="2395728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Grounded answers; refuses when no tool fits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42616" y="1572768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825496" y="1755648"/>
            <a:ext cx="201168" cy="201168"/>
          </a:xfrm>
          <a:prstGeom prst="ellipse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88920" y="2029967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0E6E6B"/>
                </a:solidFill>
                <a:latin typeface="Calibri"/>
              </a:rPr>
              <a:t>Entity Resolution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2395728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The person behind dozens of name variants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828032" y="1572768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010912" y="1755648"/>
            <a:ext cx="201168" cy="201168"/>
          </a:xfrm>
          <a:prstGeom prst="ellipse">
            <a:avLst/>
          </a:prstGeom>
          <a:solidFill>
            <a:srgbClr val="21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2029967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214AA8"/>
                </a:solidFill>
                <a:latin typeface="Calibri"/>
              </a:rPr>
              <a:t>Co-offender Networks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74336" y="2395728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Gangs &amp; cross-jurisdiction groups (Louvain)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013448" y="1572768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96328" y="1755648"/>
            <a:ext cx="201168" cy="201168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59752" y="2029967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1B7A43"/>
                </a:solidFill>
                <a:latin typeface="Calibri"/>
              </a:rPr>
              <a:t>Hotspots &amp; Trends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9752" y="2395728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DBSCAN hotspots, red-zone z-score, seasonality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7200" y="3191256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40080" y="3374136"/>
            <a:ext cx="201168" cy="201168"/>
          </a:xfrm>
          <a:prstGeom prst="ellipse">
            <a:avLst/>
          </a:prstGeom>
          <a:solidFill>
            <a:srgbClr val="B56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3504" y="3648456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B56C08"/>
                </a:solidFill>
                <a:latin typeface="Calibri"/>
              </a:rPr>
              <a:t>MO Fingerprinting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504" y="4014216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Similar cases returned with their outcomes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642616" y="3191256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825496" y="3374136"/>
            <a:ext cx="201168" cy="201168"/>
          </a:xfrm>
          <a:prstGeom prst="ellipse">
            <a:avLst/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88920" y="3648456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B12A2A"/>
                </a:solidFill>
                <a:latin typeface="Calibri"/>
              </a:rPr>
              <a:t>Compliance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88920" y="4014216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Chargesheet-deadline board, registration delay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28032" y="3191256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010912" y="3374136"/>
            <a:ext cx="201168" cy="201168"/>
          </a:xfrm>
          <a:prstGeom prst="ellipse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74336" y="3648456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14274E"/>
                </a:solidFill>
                <a:latin typeface="Calibri"/>
              </a:rPr>
              <a:t>RBAC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74336" y="4014216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5 roles, scope enforced at the tool boundary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013448" y="3191256"/>
            <a:ext cx="1984248" cy="14173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196328" y="3374136"/>
            <a:ext cx="201168" cy="201168"/>
          </a:xfrm>
          <a:prstGeom prst="ellipse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59752" y="3648456"/>
            <a:ext cx="1709928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0E6E6B"/>
                </a:solidFill>
                <a:latin typeface="Calibri"/>
              </a:rPr>
              <a:t>Evidence &amp; Audit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59752" y="4014216"/>
            <a:ext cx="1709928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Provenance on every answer; every call logged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  <p:sp>
        <p:nvSpPr>
          <p:cNvPr id="79" name="TextBox 78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The LLM only selects tools — it never writes SQL and never authors a fact.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1920240"/>
            <a:ext cx="1188720" cy="9601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14274E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1920240"/>
            <a:ext cx="11887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 i="0">
                <a:solidFill>
                  <a:srgbClr val="14274E"/>
                </a:solidFill>
                <a:latin typeface="Calibri"/>
              </a:rPr>
              <a:t>Officer
question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865376" y="1920240"/>
            <a:ext cx="1188720" cy="9601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214AA8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65376" y="1920240"/>
            <a:ext cx="11887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 i="0">
                <a:solidFill>
                  <a:srgbClr val="214AA8"/>
                </a:solidFill>
                <a:latin typeface="Calibri"/>
              </a:rPr>
              <a:t>Orchestration
loop (LLM)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1664208" y="2299716"/>
            <a:ext cx="182879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273551" y="1920240"/>
            <a:ext cx="1188720" cy="9601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0E6E6B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73551" y="1920240"/>
            <a:ext cx="11887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 i="0">
                <a:solidFill>
                  <a:srgbClr val="0E6E6B"/>
                </a:solidFill>
                <a:latin typeface="Calibri"/>
              </a:rPr>
              <a:t>Selects a
typed tool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3072384" y="2299716"/>
            <a:ext cx="182879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681727" y="1920240"/>
            <a:ext cx="1188720" cy="9601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B56C08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81727" y="1920240"/>
            <a:ext cx="11887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 i="0">
                <a:solidFill>
                  <a:srgbClr val="B56C08"/>
                </a:solidFill>
                <a:latin typeface="Calibri"/>
              </a:rPr>
              <a:t>RBAC + k-anon
at the boundary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4480559" y="2299716"/>
            <a:ext cx="182879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089903" y="1920240"/>
            <a:ext cx="1188720" cy="9601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1B7A43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89903" y="1920240"/>
            <a:ext cx="11887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 i="0">
                <a:solidFill>
                  <a:srgbClr val="1B7A43"/>
                </a:solidFill>
                <a:latin typeface="Calibri"/>
              </a:rPr>
              <a:t>Parameterized
SQL / ML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5888735" y="2299716"/>
            <a:ext cx="182879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498079" y="1920240"/>
            <a:ext cx="1188720" cy="96012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14274E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79" y="1920240"/>
            <a:ext cx="1188720" cy="9601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1" i="0">
                <a:solidFill>
                  <a:srgbClr val="14274E"/>
                </a:solidFill>
                <a:latin typeface="Calibri"/>
              </a:rPr>
              <a:t>Grounded answer
+ provenance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7296911" y="2299716"/>
            <a:ext cx="182879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9000"/>
            </a:avLst>
          </a:prstGeom>
          <a:solidFill>
            <a:srgbClr val="EAF1F0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5800" y="3566160"/>
            <a:ext cx="777240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E6E6B"/>
                </a:solidFill>
                <a:latin typeface="Calibri"/>
              </a:rPr>
              <a:t>Use case  </a:t>
            </a:r>
            <a:r>
              <a:rPr sz="1150" b="0" i="1">
                <a:solidFill>
                  <a:srgbClr val="111827"/>
                </a:solidFill>
                <a:latin typeface="Calibri"/>
              </a:rPr>
              <a:t>“Show me repeat offenders in my district and the gangs they run in.”</a:t>
            </a:r>
          </a:p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→ get_repeat_offenders → get_person_network → detect_communities, each scoped to the officer’s jurisdiction, each row traceable to its CrimeNos.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  <p:sp>
        <p:nvSpPr>
          <p:cNvPr id="85" name="TextBox 84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Dark, dense, operational — a police tool, not a consumer app.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1554480"/>
            <a:ext cx="8229600" cy="3154680"/>
          </a:xfrm>
          <a:prstGeom prst="roundRect">
            <a:avLst>
              <a:gd name="adj" fmla="val 3000"/>
            </a:avLst>
          </a:prstGeom>
          <a:solidFill>
            <a:srgbClr val="10161F"/>
          </a:solidFill>
          <a:ln w="12700">
            <a:solidFill>
              <a:srgbClr val="2A3548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57200" y="1554480"/>
            <a:ext cx="8229600" cy="457200"/>
          </a:xfrm>
          <a:prstGeom prst="roundRect">
            <a:avLst>
              <a:gd name="adj" fmla="val 3000"/>
            </a:avLst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1572768"/>
            <a:ext cx="45720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KSP Crime Intelligence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720840" y="16459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20840" y="1645920"/>
            <a:ext cx="173736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Acting as: SP  ▾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03504" y="2139696"/>
            <a:ext cx="3840480" cy="2450592"/>
          </a:xfrm>
          <a:prstGeom prst="roundRect">
            <a:avLst>
              <a:gd name="adj" fmla="val 3000"/>
            </a:avLst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77240" y="22860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2286000"/>
            <a:ext cx="265176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Who are the repeat offenders?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97280" y="269748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1A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88720" y="2724912"/>
            <a:ext cx="3017520" cy="5120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C9D2E0"/>
                </a:solidFill>
                <a:latin typeface="Calibri"/>
              </a:rPr>
              <a:t>8 people with ≥3 FIRs in your district; top is linked to a 4-station group.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97280" y="3328416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97280" y="3328416"/>
            <a:ext cx="150876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750" b="0" i="0">
                <a:solidFill>
                  <a:srgbClr val="8A94A6"/>
                </a:solidFill>
                <a:latin typeface="Calibri"/>
              </a:rPr>
              <a:t>get_repeat_offenders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97480" y="3328416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97480" y="3328416"/>
            <a:ext cx="1508760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750" b="0" i="0">
                <a:solidFill>
                  <a:srgbClr val="8A94A6"/>
                </a:solidFill>
                <a:latin typeface="Calibri"/>
              </a:rPr>
              <a:t>detect_communities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77240" y="4160520"/>
            <a:ext cx="3520440" cy="310896"/>
          </a:xfrm>
          <a:prstGeom prst="roundRect">
            <a:avLst>
              <a:gd name="adj" fmla="val 20000"/>
            </a:avLst>
          </a:prstGeom>
          <a:solidFill>
            <a:srgbClr val="161C28"/>
          </a:solidFill>
          <a:ln w="1270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8680" y="4160520"/>
            <a:ext cx="274320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5B6577"/>
                </a:solidFill>
                <a:latin typeface="Calibri"/>
              </a:rPr>
              <a:t>Ask the assistant…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703320" y="418795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703320" y="4187952"/>
            <a:ext cx="50292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1" i="0">
                <a:solidFill>
                  <a:srgbClr val="061224"/>
                </a:solidFill>
                <a:latin typeface="Calibri"/>
              </a:rPr>
              <a:t>Send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0" y="2139696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0" y="2139696"/>
            <a:ext cx="98755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Calibri"/>
              </a:rPr>
              <a:t>Evidence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623560" y="2139696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11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23560" y="2139696"/>
            <a:ext cx="98755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675120" y="2139696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675120" y="2139696"/>
            <a:ext cx="98755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8A94A6"/>
                </a:solidFill>
                <a:latin typeface="Calibri"/>
              </a:rPr>
              <a:t>Map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0" y="2468880"/>
            <a:ext cx="3959352" cy="2121408"/>
          </a:xfrm>
          <a:prstGeom prst="roundRect">
            <a:avLst>
              <a:gd name="adj" fmla="val 3000"/>
            </a:avLst>
          </a:prstGeom>
          <a:solidFill>
            <a:srgbClr val="0C111A"/>
          </a:solidFill>
          <a:ln w="12700">
            <a:solidFill>
              <a:srgbClr val="22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446520" y="3429000"/>
            <a:ext cx="182880" cy="182880"/>
          </a:xfrm>
          <a:prstGeom prst="ellipse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6537960" y="3520440"/>
            <a:ext cx="658368" cy="0"/>
          </a:xfrm>
          <a:prstGeom prst="bentConnector3">
            <a:avLst/>
          </a:prstGeom>
          <a:ln w="15240">
            <a:solidFill>
              <a:srgbClr val="3541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7132320" y="3456432"/>
            <a:ext cx="128016" cy="128016"/>
          </a:xfrm>
          <a:prstGeom prst="ellipse">
            <a:avLst/>
          </a:prstGeom>
          <a:solidFill>
            <a:srgbClr val="2B4A7D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6537960" y="3520440"/>
            <a:ext cx="329184" cy="570163"/>
          </a:xfrm>
          <a:prstGeom prst="bentConnector3">
            <a:avLst/>
          </a:prstGeom>
          <a:ln w="15240">
            <a:solidFill>
              <a:srgbClr val="3541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6803136" y="4026595"/>
            <a:ext cx="128016" cy="128016"/>
          </a:xfrm>
          <a:prstGeom prst="ellipse">
            <a:avLst/>
          </a:prstGeom>
          <a:solidFill>
            <a:srgbClr val="2B4A7D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H="1">
            <a:off x="6208776" y="3520440"/>
            <a:ext cx="329184" cy="570163"/>
          </a:xfrm>
          <a:prstGeom prst="bentConnector3">
            <a:avLst/>
          </a:prstGeom>
          <a:ln w="15240">
            <a:solidFill>
              <a:srgbClr val="3541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6144768" y="4026595"/>
            <a:ext cx="128016" cy="128016"/>
          </a:xfrm>
          <a:prstGeom prst="ellipse">
            <a:avLst/>
          </a:prstGeom>
          <a:solidFill>
            <a:srgbClr val="2B4A7D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 flipH="1">
            <a:off x="5879592" y="3520440"/>
            <a:ext cx="658368" cy="0"/>
          </a:xfrm>
          <a:prstGeom prst="bentConnector3">
            <a:avLst/>
          </a:prstGeom>
          <a:ln w="15240">
            <a:solidFill>
              <a:srgbClr val="3541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5815584" y="3456432"/>
            <a:ext cx="128016" cy="128016"/>
          </a:xfrm>
          <a:prstGeom prst="ellipse">
            <a:avLst/>
          </a:prstGeom>
          <a:solidFill>
            <a:srgbClr val="2B4A7D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H="1" flipV="1">
            <a:off x="6208776" y="2950276"/>
            <a:ext cx="329184" cy="570164"/>
          </a:xfrm>
          <a:prstGeom prst="bentConnector3">
            <a:avLst/>
          </a:prstGeom>
          <a:ln w="15240">
            <a:solidFill>
              <a:srgbClr val="3541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6144768" y="2886268"/>
            <a:ext cx="128016" cy="128016"/>
          </a:xfrm>
          <a:prstGeom prst="ellipse">
            <a:avLst/>
          </a:prstGeom>
          <a:solidFill>
            <a:srgbClr val="2B4A7D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V="1">
            <a:off x="6537960" y="2950276"/>
            <a:ext cx="329184" cy="570164"/>
          </a:xfrm>
          <a:prstGeom prst="bentConnector3">
            <a:avLst/>
          </a:prstGeom>
          <a:ln w="15240">
            <a:solidFill>
              <a:srgbClr val="3541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6803136" y="2886268"/>
            <a:ext cx="128016" cy="128016"/>
          </a:xfrm>
          <a:prstGeom prst="ellipse">
            <a:avLst/>
          </a:prstGeom>
          <a:solidFill>
            <a:srgbClr val="2B4A7D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63440" y="4315968"/>
            <a:ext cx="3749039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  <a:latin typeface="Calibri"/>
              </a:rPr>
              <a:t>co-offending network · node size = linked FIRs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Everything above the database runs on Zoho Catalyst.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1572768"/>
            <a:ext cx="5989320" cy="56692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21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1572768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214AA8"/>
                </a:solidFill>
                <a:latin typeface="Calibri"/>
              </a:rPr>
              <a:t>FRONTEND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23160" y="1572768"/>
            <a:ext cx="38862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React + Vite + TypeScript  —  streaming chat, evidence / network / map panes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2244852"/>
            <a:ext cx="5989320" cy="56692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142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2244852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14274E"/>
                </a:solidFill>
                <a:latin typeface="Calibri"/>
              </a:rPr>
              <a:t>API / ORCHESTRATION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23160" y="2244852"/>
            <a:ext cx="38862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FastAPI tool-calling loop  —  LLM selects typed tools, never writes SQL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2916936"/>
            <a:ext cx="5989320" cy="56692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0E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080" y="2916936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0E6E6B"/>
                </a:solidFill>
                <a:latin typeface="Calibri"/>
              </a:rPr>
              <a:t>TOOL LAYER (21 tools)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23160" y="2916936"/>
            <a:ext cx="38862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RBAC + provenance + audit + k-anonymity enforced at the boundary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3589020"/>
            <a:ext cx="5989320" cy="56692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3589020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1B7A43"/>
                </a:solidFill>
                <a:latin typeface="Calibri"/>
              </a:rPr>
              <a:t>INTELLIGENCE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23160" y="3589020"/>
            <a:ext cx="38862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Entity resolution · MO clustering · networks · trends  (scikit-learn, networkx)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261104"/>
            <a:ext cx="5989320" cy="566928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9050">
            <a:solidFill>
              <a:srgbClr val="B56C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261104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B56C08"/>
                </a:solidFill>
                <a:latin typeface="Calibri"/>
              </a:rPr>
              <a:t>DATA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23160" y="4261104"/>
            <a:ext cx="3886200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PostgreSQL 16 + PostGIS + pgvector + pg_trgm  —  ksp (source) / derived (computed)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720840" y="1572768"/>
            <a:ext cx="1965960" cy="3108960"/>
          </a:xfrm>
          <a:prstGeom prst="roundRect">
            <a:avLst>
              <a:gd name="adj" fmla="val 5000"/>
            </a:avLst>
          </a:prstGeom>
          <a:solidFill>
            <a:srgbClr val="14274E"/>
          </a:solidFill>
          <a:ln>
            <a:noFill/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12280" y="1691640"/>
            <a:ext cx="17830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CATALYST SERVICES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12280" y="2057400"/>
            <a:ext cx="1783080" cy="2560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AppSail — backend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Slate — frontend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QuickML — LLM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Job Scheduling — alerts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SmartBrowz — PDF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Stratus — files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Cache · 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Proven, open components — plus Catalyst-native AI.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1572768"/>
            <a:ext cx="4023360" cy="9418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58368" y="1773936"/>
            <a:ext cx="182880" cy="182880"/>
          </a:xfrm>
          <a:prstGeom prst="ellipse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0120" y="1709928"/>
            <a:ext cx="33832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4274E"/>
                </a:solidFill>
                <a:latin typeface="Calibri"/>
              </a:rPr>
              <a:t>Backend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6656" y="2048256"/>
            <a:ext cx="3602736" cy="42062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Python 3.12 · FastAPI · Pydantic v2 · SQLAlchemy · psycopg3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663440" y="1572768"/>
            <a:ext cx="4023360" cy="9418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64608" y="1773936"/>
            <a:ext cx="182880" cy="182880"/>
          </a:xfrm>
          <a:prstGeom prst="ellipse">
            <a:avLst/>
          </a:prstGeom>
          <a:solidFill>
            <a:srgbClr val="B56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66360" y="1709928"/>
            <a:ext cx="33832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B56C08"/>
                </a:solidFill>
                <a:latin typeface="Calibri"/>
              </a:rPr>
              <a:t>Data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82896" y="2048256"/>
            <a:ext cx="3602736" cy="42062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PostgreSQL 16 · PostGIS · pgvector · pg_trgm · fuzzystrmatch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2660904"/>
            <a:ext cx="4023360" cy="9418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8368" y="2862072"/>
            <a:ext cx="182880" cy="182880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2798064"/>
            <a:ext cx="33832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B7A43"/>
                </a:solidFill>
                <a:latin typeface="Calibri"/>
              </a:rPr>
              <a:t>ML &amp; Analytics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6656" y="3136392"/>
            <a:ext cx="3602736" cy="42062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scikit-learn (HDBSCAN, DBSCAN, TF-IDF/SVD) · networkx · jellyfish · Double Metaphone · indic-transliteration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663440" y="2660904"/>
            <a:ext cx="4023360" cy="9418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64608" y="2862072"/>
            <a:ext cx="182880" cy="182880"/>
          </a:xfrm>
          <a:prstGeom prst="ellipse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66360" y="2798064"/>
            <a:ext cx="33832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0E6E6B"/>
                </a:solidFill>
                <a:latin typeface="Calibri"/>
              </a:rPr>
              <a:t>LLM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82896" y="3136392"/>
            <a:ext cx="3602736" cy="42062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Catalyst QuickML LLM Serving (Qwen 2.5) · OpenAI-compatible tool calling · prompted + native modes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7200" y="3749039"/>
            <a:ext cx="4023360" cy="9418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8368" y="3950207"/>
            <a:ext cx="182880" cy="182880"/>
          </a:xfrm>
          <a:prstGeom prst="ellipse">
            <a:avLst/>
          </a:prstGeom>
          <a:solidFill>
            <a:srgbClr val="21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0120" y="3886200"/>
            <a:ext cx="33832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214AA8"/>
                </a:solidFill>
                <a:latin typeface="Calibri"/>
              </a:rPr>
              <a:t>Frontend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6656" y="4224527"/>
            <a:ext cx="3602736" cy="42062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React 18 · Vite · TypeScript · SVG panes (Cytoscape / MapLibre upgrade planned)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63440" y="3749039"/>
            <a:ext cx="4023360" cy="9418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864608" y="3950207"/>
            <a:ext cx="182880" cy="182880"/>
          </a:xfrm>
          <a:prstGeom prst="ellipse">
            <a:avLst/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166360" y="3886200"/>
            <a:ext cx="3383280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B12A2A"/>
                </a:solidFill>
                <a:latin typeface="Calibri"/>
              </a:rPr>
              <a:t>Language &amp; Export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82896" y="4224527"/>
            <a:ext cx="3602736" cy="420624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Bhashini (Kannada ASR/TTS) · Catalyst SmartBrowz PDF  [planned]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Hosting maximised on the platform partner; only the database stays external.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1572768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1572768"/>
            <a:ext cx="128016" cy="722376"/>
          </a:xfrm>
          <a:prstGeom prst="rect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3232" y="1655064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14274E"/>
                </a:solidFill>
                <a:latin typeface="Calibri"/>
              </a:rPr>
              <a:t>AppSail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3232" y="1956816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FastAPI backend (Python runtime or Docker OCI)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63440" y="1572768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663440" y="1572768"/>
            <a:ext cx="128016" cy="722376"/>
          </a:xfrm>
          <a:prstGeom prst="rect">
            <a:avLst/>
          </a:prstGeom>
          <a:solidFill>
            <a:srgbClr val="21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919472" y="1655064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214AA8"/>
                </a:solidFill>
                <a:latin typeface="Calibri"/>
              </a:rPr>
              <a:t>Slate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19472" y="1956816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React single-page frontend hosting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2414016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57200" y="2414016"/>
            <a:ext cx="128016" cy="72237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3232" y="2496312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0E6E6B"/>
                </a:solidFill>
                <a:latin typeface="Calibri"/>
              </a:rPr>
              <a:t>QuickML LLM Serving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3232" y="2798064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The conversational LLM (Qwen 2.5, BYOK)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663440" y="2414016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663440" y="2414016"/>
            <a:ext cx="128016" cy="722376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919472" y="2496312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1B7A43"/>
                </a:solidFill>
                <a:latin typeface="Calibri"/>
              </a:rPr>
              <a:t>Job Scheduling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19472" y="2798064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Proactive alert engine (deadline / red-zone)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3255264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57200" y="3255264"/>
            <a:ext cx="128016" cy="722376"/>
          </a:xfrm>
          <a:prstGeom prst="rect">
            <a:avLst/>
          </a:prstGeom>
          <a:solidFill>
            <a:srgbClr val="B56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3232" y="3337560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B56C08"/>
                </a:solidFill>
                <a:latin typeface="Calibri"/>
              </a:rPr>
              <a:t>SmartBrowz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3232" y="3639312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Server-side PDF / briefing export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663440" y="3255264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663440" y="3255264"/>
            <a:ext cx="128016" cy="722376"/>
          </a:xfrm>
          <a:prstGeom prst="rect">
            <a:avLst/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919472" y="3337560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B12A2A"/>
                </a:solidFill>
                <a:latin typeface="Calibri"/>
              </a:rPr>
              <a:t>Stratus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19472" y="3639312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Object storage for generated reports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4096512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7200" y="4096512"/>
            <a:ext cx="128016" cy="722376"/>
          </a:xfrm>
          <a:prstGeom prst="rect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3232" y="4178808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14274E"/>
                </a:solidFill>
                <a:latin typeface="Calibri"/>
              </a:rPr>
              <a:t>Cache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13232" y="4480560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Hot lookups &amp; rate limiting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663440" y="4096512"/>
            <a:ext cx="4023360" cy="722376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63440" y="4096512"/>
            <a:ext cx="128016" cy="72237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919472" y="4178808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1" i="0">
                <a:solidFill>
                  <a:srgbClr val="0E6E6B"/>
                </a:solidFill>
                <a:latin typeface="Calibri"/>
              </a:rPr>
              <a:t>Authentication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919472" y="4480560"/>
            <a:ext cx="3657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Officer identity upstream of RBAC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Indicative pilot-scale monthly estimate (one district, ~50k FIRs).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1572768"/>
            <a:ext cx="8229600" cy="384048"/>
          </a:xfrm>
          <a:prstGeom prst="roundRect">
            <a:avLst>
              <a:gd name="adj" fmla="val 9000"/>
            </a:avLst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4360" y="1572768"/>
            <a:ext cx="27432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83280" y="1572768"/>
            <a:ext cx="310896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92240" y="1572768"/>
            <a:ext cx="210312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Cost driver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7200" y="1956816"/>
            <a:ext cx="8229600" cy="4206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94360" y="1956816"/>
            <a:ext cx="27432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50" b="1" i="0">
                <a:solidFill>
                  <a:srgbClr val="14274E"/>
                </a:solidFill>
                <a:latin typeface="Calibri"/>
              </a:rPr>
              <a:t>Catalyst AppSail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83280" y="1956816"/>
            <a:ext cx="310896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1–2 always-on instances (backend)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92240" y="1956816"/>
            <a:ext cx="210312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Per-instance runtime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57200" y="2395728"/>
            <a:ext cx="8229600" cy="420624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94360" y="2395728"/>
            <a:ext cx="27432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50" b="1" i="0">
                <a:solidFill>
                  <a:srgbClr val="14274E"/>
                </a:solidFill>
                <a:latin typeface="Calibri"/>
              </a:rPr>
              <a:t>Catalyst QuickML LLM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3280" y="2395728"/>
            <a:ext cx="310896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Conversational queries, BYOK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92240" y="2395728"/>
            <a:ext cx="210312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Per-token / per-call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57200" y="2834640"/>
            <a:ext cx="8229600" cy="4206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94360" y="2834640"/>
            <a:ext cx="27432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50" b="1" i="0">
                <a:solidFill>
                  <a:srgbClr val="14274E"/>
                </a:solidFill>
                <a:latin typeface="Calibri"/>
              </a:rPr>
              <a:t>Catalyst Slate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83280" y="2834640"/>
            <a:ext cx="310896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Static frontend hosting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92240" y="2834640"/>
            <a:ext cx="210312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Low / included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57200" y="3273552"/>
            <a:ext cx="8229600" cy="420624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94360" y="3273552"/>
            <a:ext cx="27432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50" b="1" i="0">
                <a:solidFill>
                  <a:srgbClr val="14274E"/>
                </a:solidFill>
                <a:latin typeface="Calibri"/>
              </a:rPr>
              <a:t>Job Scheduling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83280" y="3273552"/>
            <a:ext cx="310896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Nightly alert sweeps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92240" y="3273552"/>
            <a:ext cx="210312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Per-invocation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57200" y="3712464"/>
            <a:ext cx="8229600" cy="4206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94360" y="3712464"/>
            <a:ext cx="27432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50" b="1" i="0">
                <a:solidFill>
                  <a:srgbClr val="14274E"/>
                </a:solidFill>
                <a:latin typeface="Calibri"/>
              </a:rPr>
              <a:t>Stratus + Cache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83280" y="3712464"/>
            <a:ext cx="310896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Report storage + hot lookups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92240" y="3712464"/>
            <a:ext cx="210312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Usage-based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57200" y="4151376"/>
            <a:ext cx="8229600" cy="420624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94360" y="4151376"/>
            <a:ext cx="274320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50" b="1" i="0">
                <a:solidFill>
                  <a:srgbClr val="14274E"/>
                </a:solidFill>
                <a:latin typeface="Calibri"/>
              </a:rPr>
              <a:t>External PostgreSQL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3280" y="4151376"/>
            <a:ext cx="310896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Managed PG w/ PostGIS + pgvector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92240" y="4151376"/>
            <a:ext cx="2103120" cy="4206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Fixed instance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46360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50" b="0" i="1">
                <a:solidFill>
                  <a:srgbClr val="5B6577"/>
                </a:solidFill>
                <a:latin typeface="Calibri"/>
              </a:rPr>
              <a:t>Serverless components scale to near-zero when idle; the fixed cost is the managed Postgres instance. Figures are indicative for a pilot and finalised against Catalyst usage tiers.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  <p:sp>
        <p:nvSpPr>
          <p:cNvPr id="115" name="TextBox 114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Representative prototype screens (dark operational UI).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57200" y="1600200"/>
            <a:ext cx="3977639" cy="3063240"/>
          </a:xfrm>
          <a:prstGeom prst="roundRect">
            <a:avLst>
              <a:gd name="adj" fmla="val 3000"/>
            </a:avLst>
          </a:prstGeom>
          <a:solidFill>
            <a:srgbClr val="10161F"/>
          </a:solidFill>
          <a:ln w="12700">
            <a:solidFill>
              <a:srgbClr val="2A3548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457200" y="1600200"/>
            <a:ext cx="3977639" cy="384048"/>
          </a:xfrm>
          <a:prstGeom prst="roundRect">
            <a:avLst>
              <a:gd name="adj" fmla="val 3000"/>
            </a:avLst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3504" y="1600200"/>
            <a:ext cx="370332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Chat  +  Evidence trail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58368" y="212140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2121408"/>
            <a:ext cx="2743200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Give me the profile of person #1864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58368" y="2505456"/>
            <a:ext cx="3566160" cy="603504"/>
          </a:xfrm>
          <a:prstGeom prst="roundRect">
            <a:avLst>
              <a:gd name="adj" fmla="val 6000"/>
            </a:avLst>
          </a:prstGeom>
          <a:solidFill>
            <a:srgbClr val="1A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9808" y="2532888"/>
            <a:ext cx="338328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C9D2E0"/>
                </a:solidFill>
                <a:latin typeface="Calibri"/>
              </a:rPr>
              <a:t>Linked to 6 FIRs across 3 stations; earliest 2022, undetected. Confidence 0.91.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58368" y="3200400"/>
            <a:ext cx="356616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  <a:latin typeface="Calibri"/>
              </a:rPr>
              <a:t>PROVENANCE — tap a CrimeNo to open the FIR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8368" y="345643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58368" y="3456432"/>
            <a:ext cx="80467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750" b="0" i="0">
                <a:solidFill>
                  <a:srgbClr val="4C8DFF"/>
                </a:solidFill>
                <a:latin typeface="Calibri"/>
              </a:rPr>
              <a:t>1002…2201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527048" y="345643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27048" y="3456432"/>
            <a:ext cx="80467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750" b="0" i="0">
                <a:solidFill>
                  <a:srgbClr val="4C8DFF"/>
                </a:solidFill>
                <a:latin typeface="Calibri"/>
              </a:rPr>
              <a:t>1002…2202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395728" y="345643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395728" y="3456432"/>
            <a:ext cx="80467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750" b="0" i="0">
                <a:solidFill>
                  <a:srgbClr val="4C8DFF"/>
                </a:solidFill>
                <a:latin typeface="Calibri"/>
              </a:rPr>
              <a:t>1002…2203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64407" y="345643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1C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264407" y="3456432"/>
            <a:ext cx="804672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750" b="0" i="0">
                <a:solidFill>
                  <a:srgbClr val="4C8DFF"/>
                </a:solidFill>
                <a:latin typeface="Calibri"/>
              </a:rPr>
              <a:t>1002…2204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8368" y="3840480"/>
            <a:ext cx="356616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A9B4C6"/>
                </a:solidFill>
                <a:latin typeface="Calibri"/>
              </a:rPr>
              <a:t>get_person ✓   → 6 rows, 6 CrimeNos. RBAC: 30 out-of-scope FIRs hidden.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709160" y="1600200"/>
            <a:ext cx="3977639" cy="3063240"/>
          </a:xfrm>
          <a:prstGeom prst="roundRect">
            <a:avLst>
              <a:gd name="adj" fmla="val 3000"/>
            </a:avLst>
          </a:prstGeom>
          <a:solidFill>
            <a:srgbClr val="10161F"/>
          </a:solidFill>
          <a:ln w="12700">
            <a:solidFill>
              <a:srgbClr val="2A3548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709160" y="1600200"/>
            <a:ext cx="3977639" cy="384048"/>
          </a:xfrm>
          <a:prstGeom prst="roundRect">
            <a:avLst>
              <a:gd name="adj" fmla="val 3000"/>
            </a:avLst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855464" y="1600200"/>
            <a:ext cx="370332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Trends  +  Hotspot map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892040" y="2148840"/>
            <a:ext cx="1170432" cy="822960"/>
          </a:xfrm>
          <a:prstGeom prst="roundRect">
            <a:avLst>
              <a:gd name="adj" fmla="val 8000"/>
            </a:avLst>
          </a:prstGeom>
          <a:solidFill>
            <a:srgbClr val="161C28"/>
          </a:solidFill>
          <a:ln w="1270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892040" y="2231136"/>
            <a:ext cx="1170432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900" b="1" i="0">
                <a:solidFill>
                  <a:srgbClr val="4C8DFF"/>
                </a:solidFill>
                <a:latin typeface="Calibri"/>
              </a:rPr>
              <a:t>109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92040" y="2670048"/>
            <a:ext cx="117043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0" i="0">
                <a:solidFill>
                  <a:srgbClr val="A9B4C6"/>
                </a:solidFill>
                <a:latin typeface="Calibri"/>
              </a:rPr>
              <a:t>MO clusters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153912" y="2148840"/>
            <a:ext cx="1170432" cy="822960"/>
          </a:xfrm>
          <a:prstGeom prst="roundRect">
            <a:avLst>
              <a:gd name="adj" fmla="val 8000"/>
            </a:avLst>
          </a:prstGeom>
          <a:solidFill>
            <a:srgbClr val="161C28"/>
          </a:solidFill>
          <a:ln w="1270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153912" y="2231136"/>
            <a:ext cx="1170432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900" b="1" i="0">
                <a:solidFill>
                  <a:srgbClr val="4C8DFF"/>
                </a:solidFill>
                <a:latin typeface="Calibri"/>
              </a:rP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53912" y="2670048"/>
            <a:ext cx="117043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0" i="0">
                <a:solidFill>
                  <a:srgbClr val="A9B4C6"/>
                </a:solidFill>
                <a:latin typeface="Calibri"/>
              </a:rPr>
              <a:t>red-zone districts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415783" y="2148840"/>
            <a:ext cx="1170432" cy="822960"/>
          </a:xfrm>
          <a:prstGeom prst="roundRect">
            <a:avLst>
              <a:gd name="adj" fmla="val 8000"/>
            </a:avLst>
          </a:prstGeom>
          <a:solidFill>
            <a:srgbClr val="161C28"/>
          </a:solidFill>
          <a:ln w="1270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415783" y="2231136"/>
            <a:ext cx="1170432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900" b="1" i="0">
                <a:solidFill>
                  <a:srgbClr val="4C8DFF"/>
                </a:solidFill>
                <a:latin typeface="Calibri"/>
              </a:rPr>
              <a:t>0.69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15783" y="2670048"/>
            <a:ext cx="117043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0" i="0">
                <a:solidFill>
                  <a:srgbClr val="A9B4C6"/>
                </a:solidFill>
                <a:latin typeface="Calibri"/>
              </a:rPr>
              <a:t>MO V-measure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892040" y="3127248"/>
            <a:ext cx="3611880" cy="1371600"/>
          </a:xfrm>
          <a:prstGeom prst="roundRect">
            <a:avLst>
              <a:gd name="adj" fmla="val 3000"/>
            </a:avLst>
          </a:prstGeom>
          <a:solidFill>
            <a:srgbClr val="0C111A"/>
          </a:solidFill>
          <a:ln w="12700">
            <a:solidFill>
              <a:srgbClr val="22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95205" y="3418540"/>
            <a:ext cx="204099" cy="204099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267648" y="3858633"/>
            <a:ext cx="146716" cy="146716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220123" y="3826119"/>
            <a:ext cx="80694" cy="80694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456692" y="3325964"/>
            <a:ext cx="91400" cy="914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426649" y="4191211"/>
            <a:ext cx="98056" cy="98056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64066" y="3963276"/>
            <a:ext cx="263800" cy="2638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928930" y="3699525"/>
            <a:ext cx="269543" cy="269543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182542" y="4227349"/>
            <a:ext cx="131412" cy="131412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504064" y="3380756"/>
            <a:ext cx="135208" cy="135208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715757" y="3452690"/>
            <a:ext cx="190151" cy="190151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132400" y="3671770"/>
            <a:ext cx="183340" cy="1833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235891" y="3314244"/>
            <a:ext cx="114584" cy="114584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268967" y="3734858"/>
            <a:ext cx="136348" cy="136348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956775" y="3764109"/>
            <a:ext cx="133455" cy="133455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644170" y="4045070"/>
            <a:ext cx="122256" cy="122256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920110" y="3846419"/>
            <a:ext cx="249201" cy="249201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892040" y="4507992"/>
            <a:ext cx="361188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750" b="0" i="1">
                <a:solidFill>
                  <a:srgbClr val="8A94A6"/>
                </a:solidFill>
                <a:latin typeface="Calibri"/>
              </a:rPr>
              <a:t>hotspots on precise-coordinate cases only (42% coverage, stated openly)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Measured against hidden ground truth and a 40-question evaluation.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57200" y="1572768"/>
            <a:ext cx="2651760" cy="10515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1682495"/>
            <a:ext cx="265176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3000" b="1" i="0">
                <a:solidFill>
                  <a:srgbClr val="14274E"/>
                </a:solidFill>
                <a:latin typeface="Calibri"/>
              </a:rPr>
              <a:t>0.687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11827"/>
                </a:solidFill>
                <a:latin typeface="Calibri"/>
              </a:rPr>
              <a:t>Entity-resolution B³ F1</a:t>
            </a:r>
          </a:p>
          <a:p>
            <a:pPr algn="ctr"/>
            <a:r>
              <a:rPr sz="850" b="0" i="0">
                <a:solidFill>
                  <a:srgbClr val="5B6577"/>
                </a:solidFill>
                <a:latin typeface="Calibri"/>
              </a:rPr>
              <a:t>P 0.83 / R 0.59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46120" y="1572768"/>
            <a:ext cx="2651760" cy="10515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46120" y="1682495"/>
            <a:ext cx="265176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3000" b="1" i="0">
                <a:solidFill>
                  <a:srgbClr val="0E6E6B"/>
                </a:solidFill>
                <a:latin typeface="Calibri"/>
              </a:rPr>
              <a:t>1.000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11827"/>
                </a:solidFill>
                <a:latin typeface="Calibri"/>
              </a:rPr>
              <a:t>MO cluster homogeneity</a:t>
            </a:r>
          </a:p>
          <a:p>
            <a:pPr algn="ctr"/>
            <a:r>
              <a:rPr sz="850" b="0" i="0">
                <a:solidFill>
                  <a:srgbClr val="5B6577"/>
                </a:solidFill>
                <a:latin typeface="Calibri"/>
              </a:rPr>
              <a:t>V-measure 0.681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035040" y="1572768"/>
            <a:ext cx="2651760" cy="10515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035040" y="1682495"/>
            <a:ext cx="265176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3000" b="1" i="0">
                <a:solidFill>
                  <a:srgbClr val="B56C08"/>
                </a:solidFill>
                <a:latin typeface="Calibri"/>
              </a:rPr>
              <a:t>40/40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11827"/>
                </a:solidFill>
                <a:latin typeface="Calibri"/>
              </a:rPr>
              <a:t>orchestration eval passed</a:t>
            </a:r>
          </a:p>
          <a:p>
            <a:pPr algn="ctr"/>
            <a:r>
              <a:rPr sz="850" b="0" i="0">
                <a:solidFill>
                  <a:srgbClr val="5B6577"/>
                </a:solidFill>
                <a:latin typeface="Calibri"/>
              </a:rPr>
              <a:t>incl. must-refuse cases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2834640"/>
            <a:ext cx="4023360" cy="182880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85800" y="2962656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14274E"/>
                </a:solidFill>
                <a:latin typeface="Calibri"/>
              </a:rPr>
              <a:t>Entity Resolution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5800" y="3328416"/>
            <a:ext cx="3657600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74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55,716 accused rows → 35,122 resolved persons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74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+887 extra merges from the co-offending network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74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4,395 predicted recurring vs 4,013 true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74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4.58M candidate pairs scored in ~30 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800600" y="2834640"/>
            <a:ext cx="4023360" cy="182880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29200" y="2962656"/>
            <a:ext cx="365760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0E6E6B"/>
                </a:solidFill>
                <a:latin typeface="Calibri"/>
              </a:rPr>
              <a:t>MO &amp; System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29200" y="3328416"/>
            <a:ext cx="3657600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109 MO clusters over 50,000 FIRs (4.9% noise)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21 typed tools, 158 automated tests passing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Graph build 1.6 s · MO clustering ~30 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Every answer carries a provenance chain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Repository, demo and deployment.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1828800"/>
            <a:ext cx="8229600" cy="786384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5800" y="2066543"/>
            <a:ext cx="310896" cy="31089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5800" y="2066543"/>
            <a:ext cx="310896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88720" y="1947672"/>
            <a:ext cx="722376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1B7A43"/>
                </a:solidFill>
                <a:latin typeface="Calibri"/>
              </a:rPr>
              <a:t>GitHub Public Repository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2258568"/>
            <a:ext cx="7223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111827"/>
                </a:solidFill>
                <a:latin typeface="Calibri"/>
              </a:rPr>
              <a:t>github.com/thirumurugan-12/claux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2761488"/>
            <a:ext cx="8229600" cy="786384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85800" y="2999232"/>
            <a:ext cx="310896" cy="310896"/>
          </a:xfrm>
          <a:prstGeom prst="ellipse">
            <a:avLst/>
          </a:prstGeom>
          <a:solidFill>
            <a:srgbClr val="21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85800" y="2999232"/>
            <a:ext cx="310896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880360"/>
            <a:ext cx="722376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214AA8"/>
                </a:solidFill>
                <a:latin typeface="Calibri"/>
              </a:rPr>
              <a:t>Demo Video (3 minutes)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3191256"/>
            <a:ext cx="7223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111827"/>
                </a:solidFill>
                <a:latin typeface="Calibri"/>
              </a:rPr>
              <a:t>________________________  (to be added)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7200" y="3694176"/>
            <a:ext cx="8229600" cy="786384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85800" y="3931920"/>
            <a:ext cx="310896" cy="310896"/>
          </a:xfrm>
          <a:prstGeom prst="ellipse">
            <a:avLst/>
          </a:prstGeom>
          <a:solidFill>
            <a:srgbClr val="142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85800" y="3931920"/>
            <a:ext cx="310896" cy="31089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88720" y="3813048"/>
            <a:ext cx="722376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1" i="0">
                <a:solidFill>
                  <a:srgbClr val="14274E"/>
                </a:solidFill>
                <a:latin typeface="Calibri"/>
              </a:rPr>
              <a:t>Deployed Link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88720" y="4123944"/>
            <a:ext cx="7223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50" b="0" i="0">
                <a:solidFill>
                  <a:srgbClr val="111827"/>
                </a:solidFill>
                <a:latin typeface="Calibri"/>
              </a:rPr>
              <a:t>________________________  (Catalyst AppSail / Slate)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502920" y="1225296"/>
            <a:ext cx="8229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0" i="1">
                <a:solidFill>
                  <a:srgbClr val="0E6E6B"/>
                </a:solidFill>
                <a:latin typeface="Calibri"/>
              </a:rPr>
              <a:t>The roadmap, and the boundaries we deliberately keep.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57200" y="1572768"/>
            <a:ext cx="5074920" cy="310896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58368" y="1700784"/>
            <a:ext cx="466344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4274E"/>
                </a:solidFill>
                <a:latin typeface="Calibri"/>
              </a:rPr>
              <a:t>NEXT ON THE ROADMAP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58368" y="2084831"/>
            <a:ext cx="4709160" cy="2468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Undetected-case &amp; offender-risk models (prioritise open cases, never predict people)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Proactive early-warning alerts on Catalyst Job Scheduling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Hotspot forecasting; MapLibre + Cytoscape rich panes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Kannada voice via Bhashini; PDF briefings via SmartBrowz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E6E6B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11827"/>
                </a:solidFill>
                <a:latin typeface="Calibri"/>
              </a:rPr>
              <a:t>Real-FIR ingest pipeline (schema &amp; tools are already real-data-ready)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715000" y="1572768"/>
            <a:ext cx="2971800" cy="3108960"/>
          </a:xfrm>
          <a:prstGeom prst="roundRect">
            <a:avLst>
              <a:gd name="adj" fmla="val 9000"/>
            </a:avLst>
          </a:prstGeom>
          <a:solidFill>
            <a:srgbClr val="EAF1F0"/>
          </a:solidFill>
          <a:ln w="12700">
            <a:solidFill>
              <a:srgbClr val="D8DFEA"/>
            </a:solidFill>
          </a:ln>
          <a:effectLst/>
          <a:effectLst>
            <a:outerShdw blurRad="90000" dist="30000" dir="5400000" rotWithShape="0">
              <a:srgbClr val="1A254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916168" y="1700784"/>
            <a:ext cx="260604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B12A2A"/>
                </a:solidFill>
                <a:latin typeface="Calibri"/>
              </a:rPr>
              <a:t>PRINCIPLED BOUNDARIES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916168" y="2103120"/>
            <a:ext cx="2651760" cy="2468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12A2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No individual-level crime prediction — we predict places, times and case outcomes, never people.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12A2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Financial-crime integration is a declared stub: no account / txn data exists in the FIR schema, so we never fabricate it.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12A2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11827"/>
                </a:solidFill>
                <a:latin typeface="Calibri"/>
              </a:rPr>
              <a:t>The LLM never authors a fact.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